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85800"/>
            <a:ext cx="1280160" cy="1175613"/>
          </a:xfrm>
          <a:prstGeom prst="rect">
            <a:avLst/>
          </a:prstGeom>
          <a:solidFill>
            <a:srgbClr val="EF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121664" y="888492"/>
            <a:ext cx="682752" cy="727557"/>
          </a:xfrm>
          <a:custGeom>
            <a:avLst/>
            <a:gdLst/>
            <a:ahLst/>
            <a:cxnLst/>
            <a:rect l="l" t="t" r="r" b="b"/>
            <a:pathLst>
              <a:path w="320" h="341">
                <a:moveTo>
                  <a:pt x="0" y="259"/>
                </a:moveTo>
                <a:lnTo>
                  <a:pt x="0" y="200"/>
                </a:lnTo>
                <a:lnTo>
                  <a:pt x="249" y="130"/>
                </a:lnTo>
                <a:lnTo>
                  <a:pt x="0" y="59"/>
                </a:lnTo>
                <a:lnTo>
                  <a:pt x="0" y="0"/>
                </a:lnTo>
                <a:lnTo>
                  <a:pt x="320" y="98"/>
                </a:lnTo>
                <a:lnTo>
                  <a:pt x="320" y="162"/>
                </a:lnTo>
                <a:close/>
                <a:moveTo>
                  <a:pt x="0" y="341"/>
                </a:moveTo>
                <a:lnTo>
                  <a:pt x="0" y="288"/>
                </a:lnTo>
                <a:lnTo>
                  <a:pt x="320" y="288"/>
                </a:lnTo>
                <a:lnTo>
                  <a:pt x="320" y="3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6858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NB International Pro CG"/>
              </a:rPr>
              <a:t>Public AI — editable logo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41732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F6F6F"/>
                </a:solidFill>
                <a:latin typeface="Public Sans"/>
              </a:rPr>
              <a:t>Native, editable shapes and live text for building new lockups and extensions.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10515600" cy="127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>What this file is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>The shipped logo files in assets/ are outlined vector paths (SVG) — great for shipping, hard to extend, since the wordmark text has been converted to shapes and can no longer be retyped. This file rebuilds the mark as a native PowerPoint shape and the wordmark as live, editable text set in the real brand typeface, so you can duplicate, recolor, retype, or rearrange it to design a new lockup (e.g. a sub-brand or product wordmark).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>How to use it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>1. Duplicate a slide or shape rather than editing the shipped original in place.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>2. The mark (tile + glyph) is two native shapes grouped for convenience — ungroup to edit the chevron or bar independently. Keep the chevron-to-bar proportions unless you're deliberately designing a variant.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>3. Retype the wordmark text in place to create new lockups. Keep tracking tight and use Bold only, per the type guidelines in design.md.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>Embedding the brand font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>NB International Pro CG is not a system font, so PowerPoint will substitute a fallback until it's installed or embedded. Its files are licensed from Neubau under a domain-locked webfont license and are NOT included in this repo — if you have your own licensed copy, install it locally first. Before sharing this file outside a machine that has the font installed: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>  Windows: File &gt; Options &gt; Save &gt; check "Embed fonts in the file."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ublic Sans"/>
              </a:rPr>
              <a:t>  Mac: install your licensed copy via Font Book first, then File &gt; Save As and check "Embed fonts in the file" (PowerPoint for Mac only embeds fonts that are installed locally at save time).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NB International Pro CG"/>
              </a:rPr>
              <a:t>Logo 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F6F6F"/>
                </a:solidFill>
                <a:latin typeface="Public Sans"/>
              </a:rPr>
              <a:t>Red tile + white glyph, drawn as two native shapes — duplicate this group to start a new mark.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011680" cy="1847392"/>
          </a:xfrm>
          <a:prstGeom prst="rect">
            <a:avLst/>
          </a:prstGeom>
          <a:solidFill>
            <a:srgbClr val="EF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292352" y="2147316"/>
            <a:ext cx="1072896" cy="1143304"/>
          </a:xfrm>
          <a:custGeom>
            <a:avLst/>
            <a:gdLst/>
            <a:ahLst/>
            <a:cxnLst/>
            <a:rect l="l" t="t" r="r" b="b"/>
            <a:pathLst>
              <a:path w="320" h="341">
                <a:moveTo>
                  <a:pt x="0" y="259"/>
                </a:moveTo>
                <a:lnTo>
                  <a:pt x="0" y="200"/>
                </a:lnTo>
                <a:lnTo>
                  <a:pt x="249" y="130"/>
                </a:lnTo>
                <a:lnTo>
                  <a:pt x="0" y="59"/>
                </a:lnTo>
                <a:lnTo>
                  <a:pt x="0" y="0"/>
                </a:lnTo>
                <a:lnTo>
                  <a:pt x="320" y="98"/>
                </a:lnTo>
                <a:lnTo>
                  <a:pt x="320" y="162"/>
                </a:lnTo>
                <a:close/>
                <a:moveTo>
                  <a:pt x="0" y="341"/>
                </a:moveTo>
                <a:lnTo>
                  <a:pt x="0" y="288"/>
                </a:lnTo>
                <a:lnTo>
                  <a:pt x="320" y="288"/>
                </a:lnTo>
                <a:lnTo>
                  <a:pt x="320" y="3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1280160" cy="1175613"/>
          </a:xfrm>
          <a:prstGeom prst="rect">
            <a:avLst/>
          </a:prstGeom>
          <a:solidFill>
            <a:srgbClr val="EF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681984" y="2031492"/>
            <a:ext cx="682752" cy="727557"/>
          </a:xfrm>
          <a:custGeom>
            <a:avLst/>
            <a:gdLst/>
            <a:ahLst/>
            <a:cxnLst/>
            <a:rect l="l" t="t" r="r" b="b"/>
            <a:pathLst>
              <a:path w="320" h="341">
                <a:moveTo>
                  <a:pt x="0" y="259"/>
                </a:moveTo>
                <a:lnTo>
                  <a:pt x="0" y="200"/>
                </a:lnTo>
                <a:lnTo>
                  <a:pt x="249" y="130"/>
                </a:lnTo>
                <a:lnTo>
                  <a:pt x="0" y="59"/>
                </a:lnTo>
                <a:lnTo>
                  <a:pt x="0" y="0"/>
                </a:lnTo>
                <a:lnTo>
                  <a:pt x="320" y="98"/>
                </a:lnTo>
                <a:lnTo>
                  <a:pt x="320" y="162"/>
                </a:lnTo>
                <a:close/>
                <a:moveTo>
                  <a:pt x="0" y="341"/>
                </a:moveTo>
                <a:lnTo>
                  <a:pt x="0" y="288"/>
                </a:lnTo>
                <a:lnTo>
                  <a:pt x="320" y="288"/>
                </a:lnTo>
                <a:lnTo>
                  <a:pt x="320" y="3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80" y="1828800"/>
            <a:ext cx="822960" cy="755751"/>
          </a:xfrm>
          <a:prstGeom prst="rect">
            <a:avLst/>
          </a:prstGeom>
          <a:solidFill>
            <a:srgbClr val="EF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5404104" y="1959102"/>
            <a:ext cx="438912" cy="467715"/>
          </a:xfrm>
          <a:custGeom>
            <a:avLst/>
            <a:gdLst/>
            <a:ahLst/>
            <a:cxnLst/>
            <a:rect l="l" t="t" r="r" b="b"/>
            <a:pathLst>
              <a:path w="320" h="341">
                <a:moveTo>
                  <a:pt x="0" y="259"/>
                </a:moveTo>
                <a:lnTo>
                  <a:pt x="0" y="200"/>
                </a:lnTo>
                <a:lnTo>
                  <a:pt x="249" y="130"/>
                </a:lnTo>
                <a:lnTo>
                  <a:pt x="0" y="59"/>
                </a:lnTo>
                <a:lnTo>
                  <a:pt x="0" y="0"/>
                </a:lnTo>
                <a:lnTo>
                  <a:pt x="320" y="98"/>
                </a:lnTo>
                <a:lnTo>
                  <a:pt x="320" y="162"/>
                </a:lnTo>
                <a:close/>
                <a:moveTo>
                  <a:pt x="0" y="341"/>
                </a:moveTo>
                <a:lnTo>
                  <a:pt x="0" y="288"/>
                </a:lnTo>
                <a:lnTo>
                  <a:pt x="320" y="288"/>
                </a:lnTo>
                <a:lnTo>
                  <a:pt x="320" y="3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1828800"/>
            <a:ext cx="2011680" cy="1847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7F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64752" y="2147316"/>
            <a:ext cx="1072896" cy="1143304"/>
          </a:xfrm>
          <a:custGeom>
            <a:avLst/>
            <a:gdLst/>
            <a:ahLst/>
            <a:cxnLst/>
            <a:rect l="l" t="t" r="r" b="b"/>
            <a:pathLst>
              <a:path w="320" h="341">
                <a:moveTo>
                  <a:pt x="0" y="259"/>
                </a:moveTo>
                <a:lnTo>
                  <a:pt x="0" y="200"/>
                </a:lnTo>
                <a:lnTo>
                  <a:pt x="249" y="130"/>
                </a:lnTo>
                <a:lnTo>
                  <a:pt x="0" y="59"/>
                </a:lnTo>
                <a:lnTo>
                  <a:pt x="0" y="0"/>
                </a:lnTo>
                <a:lnTo>
                  <a:pt x="320" y="98"/>
                </a:lnTo>
                <a:lnTo>
                  <a:pt x="320" y="162"/>
                </a:lnTo>
                <a:close/>
                <a:moveTo>
                  <a:pt x="0" y="341"/>
                </a:moveTo>
                <a:lnTo>
                  <a:pt x="0" y="288"/>
                </a:lnTo>
                <a:lnTo>
                  <a:pt x="320" y="288"/>
                </a:lnTo>
                <a:lnTo>
                  <a:pt x="320" y="341"/>
                </a:lnTo>
                <a:close/>
              </a:path>
            </a:pathLst>
          </a:custGeom>
          <a:solidFill>
            <a:srgbClr val="EF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F6F6F"/>
                </a:solidFill>
                <a:latin typeface="Public Sans"/>
              </a:rPr>
              <a:t>Only ever place the glyph on the brand red tile or, as shown at right, in solid red on a light neutral surface. Never redraw the chevron/bar proportions or place the glyph on photography.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NB International Pro CG"/>
              </a:rPr>
              <a:t>Wordmark — live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F6F6F"/>
                </a:solidFill>
                <a:latin typeface="Public Sans"/>
              </a:rPr>
              <a:t>Set in NB International Pro CG Bold — retype this text box to create a new lockup.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EF3C24"/>
                </a:solidFill>
                <a:latin typeface="NB International Pro CG"/>
              </a:rPr>
              <a:t>Public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10515600" cy="127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F6F6F"/>
                </a:solidFill>
                <a:latin typeface="Public Sans"/>
              </a:rPr>
              <a:t>Example extension — mark + retyped wordmark for a sub-brand or product lockup: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023360"/>
            <a:ext cx="914400" cy="839724"/>
          </a:xfrm>
          <a:prstGeom prst="rect">
            <a:avLst/>
          </a:prstGeom>
          <a:solidFill>
            <a:srgbClr val="EF3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036320" y="4168140"/>
            <a:ext cx="487680" cy="519684"/>
          </a:xfrm>
          <a:custGeom>
            <a:avLst/>
            <a:gdLst/>
            <a:ahLst/>
            <a:cxnLst/>
            <a:rect l="l" t="t" r="r" b="b"/>
            <a:pathLst>
              <a:path w="320" h="341">
                <a:moveTo>
                  <a:pt x="0" y="259"/>
                </a:moveTo>
                <a:lnTo>
                  <a:pt x="0" y="200"/>
                </a:lnTo>
                <a:lnTo>
                  <a:pt x="249" y="130"/>
                </a:lnTo>
                <a:lnTo>
                  <a:pt x="0" y="59"/>
                </a:lnTo>
                <a:lnTo>
                  <a:pt x="0" y="0"/>
                </a:lnTo>
                <a:lnTo>
                  <a:pt x="320" y="98"/>
                </a:lnTo>
                <a:lnTo>
                  <a:pt x="320" y="162"/>
                </a:lnTo>
                <a:close/>
                <a:moveTo>
                  <a:pt x="0" y="341"/>
                </a:moveTo>
                <a:lnTo>
                  <a:pt x="0" y="288"/>
                </a:lnTo>
                <a:lnTo>
                  <a:pt x="320" y="288"/>
                </a:lnTo>
                <a:lnTo>
                  <a:pt x="320" y="3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402336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NB International Pro CG"/>
              </a:rPr>
              <a:t>Public AI Labs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